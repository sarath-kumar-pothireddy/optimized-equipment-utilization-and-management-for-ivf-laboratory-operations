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274" y="48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200" dirty="0" smtClean="0"/>
              <a:t>Optimized Equipment Utilization and Management for IVF Laboratory Operations </a:t>
            </a:r>
            <a:endParaRPr sz="3200" dirty="0"/>
          </a:p>
        </p:txBody>
      </p:sp>
      <p:sp>
        <p:nvSpPr>
          <p:cNvPr id="73" name="Google Shape;73;p1"/>
          <p:cNvSpPr txBox="1">
            <a:spLocks noGrp="1"/>
          </p:cNvSpPr>
          <p:nvPr>
            <p:ph type="body" idx="1"/>
          </p:nvPr>
        </p:nvSpPr>
        <p:spPr>
          <a:xfrm>
            <a:off x="592360" y="1848497"/>
            <a:ext cx="10640142" cy="4382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Embryology Basics – IVF To ET | Embryology &amp; IVF Train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361" y="1848498"/>
            <a:ext cx="10640142" cy="438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383125" y="1149375"/>
            <a:ext cx="1103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Diagram</a:t>
            </a:r>
            <a:endParaRPr/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28600" y="1654152"/>
            <a:ext cx="1173324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	IVF </a:t>
            </a:r>
            <a:r>
              <a:rPr lang="en-US" sz="2000" dirty="0"/>
              <a:t>labs rely on high-cost equipment such as incubators, microscopes, and ICSI workstations, yet utilization rates vary widely (40-85%), leading to 20-30% idle time, 10-15% workflow delays, and 15-25% unnecessary operating costs. At the same time, insufficient redundancy for critical procedures can cause 2-4 hour delays when equipment is unavailable, directly affecting embryo viability and clinic throughput.</a:t>
            </a: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228600" y="3238875"/>
            <a:ext cx="11583954" cy="1785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3200" b="1" u="sng" dirty="0"/>
              <a:t>Project </a:t>
            </a:r>
            <a:r>
              <a:rPr lang="en-US" sz="3200" b="1" u="sng" dirty="0" smtClean="0"/>
              <a:t>Scope</a:t>
            </a:r>
            <a:r>
              <a:rPr lang="en-US" sz="3200" b="1" dirty="0" smtClean="0"/>
              <a:t>:</a:t>
            </a:r>
          </a:p>
          <a:p>
            <a:r>
              <a:rPr lang="en-US" sz="2400" dirty="0" smtClean="0"/>
              <a:t>	The project studies equipment capacity, usage, delays, and case volume using data analysis and dashboards to help optimize scheduling, reduce costs, and improve patient throughput.</a:t>
            </a:r>
            <a:endParaRPr lang="en-US" sz="2400" dirty="0"/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28599" y="1059177"/>
            <a:ext cx="1158395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/>
              <a:t>Project </a:t>
            </a:r>
            <a:r>
              <a:rPr lang="en-US" sz="3200" b="1" u="sng" dirty="0" smtClean="0"/>
              <a:t>Overview</a:t>
            </a:r>
            <a:r>
              <a:rPr lang="en-US" sz="3200" b="1" dirty="0" smtClean="0"/>
              <a:t>:</a:t>
            </a:r>
            <a:endParaRPr lang="en-US" sz="3200" b="1" u="sng" dirty="0"/>
          </a:p>
          <a:p>
            <a:r>
              <a:rPr lang="en-US" sz="2400" dirty="0" smtClean="0"/>
              <a:t>	This </a:t>
            </a:r>
            <a:r>
              <a:rPr lang="en-US" sz="2400" dirty="0"/>
              <a:t>project analyzes how IVF lab equipment is used, focusing on utilization, idle time, downtime, and delays to find inefficiencies and improve lab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smtClean="0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6" y="827460"/>
            <a:ext cx="11989836" cy="5877825"/>
          </a:xfrm>
          <a:prstGeom prst="rect">
            <a:avLst/>
          </a:prstGeom>
        </p:spPr>
      </p:pic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 rot="10800000">
            <a:off x="8842559" y="6131627"/>
            <a:ext cx="3243288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91575" y="4750800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559838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6187475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559838" y="1181100"/>
            <a:ext cx="5374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Insights</a:t>
            </a:r>
            <a:endParaRPr sz="14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6187475" y="1175021"/>
            <a:ext cx="5374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 sz="14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0519" y="1986795"/>
            <a:ext cx="51737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/>
              <a:t>1. How </a:t>
            </a:r>
            <a:r>
              <a:rPr lang="en-US" sz="1800" dirty="0"/>
              <a:t>much equipment is actually used</a:t>
            </a:r>
          </a:p>
          <a:p>
            <a:r>
              <a:rPr lang="en-US" sz="1800" dirty="0" smtClean="0"/>
              <a:t>2. How </a:t>
            </a:r>
            <a:r>
              <a:rPr lang="en-US" sz="1800" dirty="0"/>
              <a:t>much time is wasted (idle &amp; downtime)</a:t>
            </a:r>
          </a:p>
          <a:p>
            <a:r>
              <a:rPr lang="en-US" sz="1800" dirty="0" smtClean="0"/>
              <a:t>3. Where </a:t>
            </a:r>
            <a:r>
              <a:rPr lang="en-US" sz="1800" dirty="0"/>
              <a:t>delays and bottlenecks occur</a:t>
            </a:r>
          </a:p>
          <a:p>
            <a:r>
              <a:rPr lang="en-US" sz="1800" dirty="0" smtClean="0"/>
              <a:t>4. Whether </a:t>
            </a:r>
            <a:r>
              <a:rPr lang="en-US" sz="1800" dirty="0"/>
              <a:t>data is stable or risky</a:t>
            </a:r>
          </a:p>
          <a:p>
            <a:r>
              <a:rPr lang="en-US" sz="1800" dirty="0" smtClean="0"/>
              <a:t>5. Which </a:t>
            </a:r>
            <a:r>
              <a:rPr lang="en-US" sz="1800" dirty="0"/>
              <a:t>values are normal vs extreme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 rot="10800000" flipV="1">
            <a:off x="6187475" y="1986795"/>
            <a:ext cx="524167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Most equipment is not used to its full capacity.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High idle time increases operating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Many delays come from poor scheduling, not machine failure.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big breakdowns cause most disruptions.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cases can be handled by using existing equipment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0" y="156899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29" name="Google Shape;129;p30"/>
          <p:cNvSpPr txBox="1"/>
          <p:nvPr/>
        </p:nvSpPr>
        <p:spPr>
          <a:xfrm>
            <a:off x="-363894" y="2570804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4798" y="975859"/>
            <a:ext cx="3225563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 – Data Cleaning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proper date format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 mixed date formats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duplicate rows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all hour and minute columns to numeric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4798" y="2184108"/>
            <a:ext cx="5532284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 – Handle Missing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forward fill / backward fill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Utilization, idle, delays → replace with </a:t>
            </a:r>
            <a:r>
              <a:rPr kumimoji="0" lang="en-US" altLang="en-US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 or zero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(based on business meaning)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4798" y="2880738"/>
            <a:ext cx="335700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 – Handle Zero-Heavy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columns with many zeros: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technical_downtime_hrs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planned_maintenance_hrs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workflow_delay_events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avg_delay_minutes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flags: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Downtime_Flag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Maintenance_Flag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Delay_Flag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84798" y="4977751"/>
            <a:ext cx="2661306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 – Outlier Treatment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IQR or percentile capping on: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avg_delay_minutes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technical_downtime_hrs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planned_maintenance_hrs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idle_hrs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324023" y="1028965"/>
            <a:ext cx="39356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 – Remove Redundancy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utilization_pct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utilization_hrs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/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max_capacity_hrs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Keep either percentage or hours to avoid duplication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6305362" y="1988701"/>
            <a:ext cx="3113353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 – 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new meaningful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Utilization Category (Low / Medium / High)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Idle 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Equipment Efficiency %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324023" y="3428091"/>
            <a:ext cx="487825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 –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Min-Max or Standard scaling to numeric columns for modeling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6324023" y="4205336"/>
            <a:ext cx="2234907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8 –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Recheck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Recheck outliers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Replot boxplots &amp; histograms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 rot="5400000">
            <a:off x="3218581" y="3630078"/>
            <a:ext cx="5626358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305362" y="5259439"/>
            <a:ext cx="294984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Clean, reliable, and business-ready data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modeling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 hidden="1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78" y="821094"/>
            <a:ext cx="11234735" cy="5598368"/>
          </a:xfrm>
          <a:prstGeom prst="rect">
            <a:avLst/>
          </a:prstGeom>
        </p:spPr>
      </p:pic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343</Words>
  <Application>Microsoft Office PowerPoint</Application>
  <PresentationFormat>Widescreen</PresentationFormat>
  <Paragraphs>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Calibri</vt:lpstr>
      <vt:lpstr>Georgia</vt:lpstr>
      <vt:lpstr>Times New Roman</vt:lpstr>
      <vt:lpstr>Office Theme</vt:lpstr>
      <vt:lpstr>Optimized Equipment Utilization and Management for IVF Laboratory Operations </vt:lpstr>
      <vt:lpstr>Contents</vt:lpstr>
      <vt:lpstr>Business Problem</vt:lpstr>
      <vt:lpstr>Project Overview and Scope</vt:lpstr>
      <vt:lpstr>Data Dictionary </vt:lpstr>
      <vt:lpstr>Exploratory Data Analysis [EDA]</vt:lpstr>
      <vt:lpstr>Data Preprocessing</vt:lpstr>
      <vt:lpstr>Data Visualization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Optimized Equipment Utilization and Management for IVF Laboratory Operations </dc:title>
  <dc:creator>VIKAS BARTHWAL</dc:creator>
  <cp:lastModifiedBy>LENOVO</cp:lastModifiedBy>
  <cp:revision>7</cp:revision>
  <dcterms:created xsi:type="dcterms:W3CDTF">2022-02-16T01:47:29Z</dcterms:created>
  <dcterms:modified xsi:type="dcterms:W3CDTF">2026-01-13T14:13:57Z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